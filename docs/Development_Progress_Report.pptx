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2E86DE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Nov '25</c:v>
                </c:pt>
                <c:pt idx="1">
                  <c:v>Dec '25</c:v>
                </c:pt>
                <c:pt idx="2">
                  <c:v>Jan '26</c:v>
                </c:pt>
                <c:pt idx="3">
                  <c:v>Feb '26</c:v>
                </c:pt>
                <c:pt idx="4">
                  <c:v>Mar '26</c:v>
                </c:pt>
                <c:pt idx="5">
                  <c:v>Apr '26</c:v>
                </c:pt>
                <c:pt idx="6">
                  <c:v>May '26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4</c:v>
                </c:pt>
                <c:pt idx="2">
                  <c:v>22</c:v>
                </c:pt>
                <c:pt idx="3">
                  <c:v>30</c:v>
                </c:pt>
                <c:pt idx="4">
                  <c:v>12</c:v>
                </c:pt>
                <c:pt idx="5">
                  <c:v>51</c:v>
                </c:pt>
                <c:pt idx="6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F58-493A-8724-99A3B35C08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Features</c:v>
                </c:pt>
                <c:pt idx="1">
                  <c:v>Fixes</c:v>
                </c:pt>
                <c:pt idx="2">
                  <c:v>Refactor / maint</c:v>
                </c:pt>
                <c:pt idx="3">
                  <c:v>Infra / deploy</c:v>
                </c:pt>
                <c:pt idx="4">
                  <c:v>Merges &amp; releases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32</c:v>
                </c:pt>
                <c:pt idx="2">
                  <c:v>22</c:v>
                </c:pt>
                <c:pt idx="3">
                  <c:v>19</c:v>
                </c:pt>
                <c:pt idx="4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CE-4373-BD72-F8B03E40B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420624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2E86DE"/>
                </a:solidFill>
                <a:latin typeface="Calibri"/>
              </a:rPr>
              <a:t>CLIENT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32918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Period: Nov 2025 —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329184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E9F1FA"/>
                </a:solidFill>
                <a:latin typeface="Calibri"/>
              </a:rPr>
              <a:t>Backend engineering,</a:t>
            </a:r>
          </a:p>
          <a:p>
            <a:pPr algn="l"/>
            <a:r>
              <a:rPr sz="1400" b="0">
                <a:solidFill>
                  <a:srgbClr val="E9F1FA"/>
                </a:solidFill>
                <a:latin typeface="Calibri"/>
              </a:rPr>
              <a:t>database, infrastructure</a:t>
            </a:r>
          </a:p>
          <a:p>
            <a:pPr algn="l"/>
            <a:r>
              <a:rPr sz="1400" b="0">
                <a:solidFill>
                  <a:srgbClr val="E9F1FA"/>
                </a:solidFill>
                <a:latin typeface="Calibri"/>
              </a:rPr>
              <a:t>and product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70408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F4E8C"/>
                </a:solidFill>
                <a:latin typeface="Calibri"/>
              </a:rPr>
              <a:t>Development &amp;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704088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5400" b="1">
                <a:solidFill>
                  <a:srgbClr val="0F2A4A"/>
                </a:solidFill>
                <a:latin typeface="Calibri"/>
              </a:rPr>
              <a:t>Progress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703320"/>
            <a:ext cx="914400" cy="6400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704088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1A1F2C"/>
                </a:solidFill>
                <a:latin typeface="Calibri"/>
              </a:rPr>
              <a:t>A transparent summary of the engineering, infrastructure</a:t>
            </a:r>
          </a:p>
          <a:p>
            <a:pPr algn="l"/>
            <a:r>
              <a:rPr sz="1400" b="0">
                <a:solidFill>
                  <a:srgbClr val="1A1F2C"/>
                </a:solidFill>
                <a:latin typeface="Calibri"/>
              </a:rPr>
              <a:t>and maintenance work delivered on the salon platform —</a:t>
            </a:r>
          </a:p>
          <a:p>
            <a:pPr algn="l"/>
            <a:r>
              <a:rPr sz="1400" b="0">
                <a:solidFill>
                  <a:srgbClr val="1A1F2C"/>
                </a:solidFill>
                <a:latin typeface="Calibri"/>
              </a:rPr>
              <a:t>much of it invisible from the user interface, but essential</a:t>
            </a:r>
          </a:p>
          <a:p>
            <a:pPr algn="l"/>
            <a:r>
              <a:rPr sz="1400" b="0">
                <a:solidFill>
                  <a:srgbClr val="1A1F2C"/>
                </a:solidFill>
                <a:latin typeface="Calibri"/>
              </a:rPr>
              <a:t>to the product's stability, scalability and growth.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486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5577840"/>
            <a:ext cx="16916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600" b="1">
                <a:solidFill>
                  <a:srgbClr val="1F4E8C"/>
                </a:solidFill>
                <a:latin typeface="Calibri"/>
              </a:rPr>
              <a:t>186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6035040"/>
            <a:ext cx="1691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Commits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486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5577840"/>
            <a:ext cx="16916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600" b="1">
                <a:solidFill>
                  <a:srgbClr val="1F4E8C"/>
                </a:solidFill>
                <a:latin typeface="Calibri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035040"/>
            <a:ext cx="1691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Pull Requests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486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5577840"/>
            <a:ext cx="16916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600" b="1">
                <a:solidFill>
                  <a:srgbClr val="1F4E8C"/>
                </a:solidFill>
                <a:latin typeface="Calibri"/>
              </a:rPr>
              <a:t>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035040"/>
            <a:ext cx="1691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DB Migrations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5486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5577840"/>
            <a:ext cx="169164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600" b="1">
                <a:solidFill>
                  <a:srgbClr val="1F4E8C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035040"/>
            <a:ext cx="16916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Months 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What this report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7276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1051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Scope, team and engagement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1284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Development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5059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Month-by-month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5292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Git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09067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Visible evidence of continuous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49300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Backend &amp;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3075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Foundations under the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3308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Features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7083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What changed for users and the business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55448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57276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Maintenance &amp;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181051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The invisible engineering layer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19456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19456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21284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Metrics &amp;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45059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Quantified 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283464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83464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85292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Technical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09067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47472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3474720"/>
            <a:ext cx="640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3493008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Conclusion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3730752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B7380"/>
                </a:solidFill>
                <a:latin typeface="Calibri"/>
              </a:rPr>
              <a:t>Commitment going forward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01 ·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A platform under continuous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1A1F2C"/>
                </a:solidFill>
                <a:latin typeface="Calibri"/>
              </a:rPr>
              <a:t>The salon platform is a multi-tenant booking and management system serving customers, salon vendors, relationship managers and administrators. The backend, database, integrations and supporting infrastructure are all actively maintained — not as a one-time build, but as a living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743200" cy="3566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743200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Scope of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502152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Backend APIs (FastAPI)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388620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767328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PostgreSQL via Supabase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4270248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151376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Payments (Razorpay)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54296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535424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Storage &amp; uploads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5038344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19472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Email &amp; OTP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0712" y="2743200"/>
            <a:ext cx="2743200" cy="3566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10712" y="2743200"/>
            <a:ext cx="2743200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9312" y="292608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Engagement</a:t>
            </a:r>
          </a:p>
        </p:txBody>
      </p:sp>
      <p:sp>
        <p:nvSpPr>
          <p:cNvPr id="24" name="Oval 23"/>
          <p:cNvSpPr/>
          <p:nvPr/>
        </p:nvSpPr>
        <p:spPr>
          <a:xfrm>
            <a:off x="3666744" y="3502152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22192" y="3383280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Period: Nov 2025 – May 2026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388620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22192" y="3767328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Approx. 7 months active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4270248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22192" y="4151376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Continuous PR-based delivery</a:t>
            </a:r>
          </a:p>
        </p:txBody>
      </p:sp>
      <p:sp>
        <p:nvSpPr>
          <p:cNvPr id="30" name="Oval 29"/>
          <p:cNvSpPr/>
          <p:nvPr/>
        </p:nvSpPr>
        <p:spPr>
          <a:xfrm>
            <a:off x="3666744" y="4654296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22192" y="4535424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Staging + production environments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2784" y="2743200"/>
            <a:ext cx="2743200" cy="3566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72784" y="2743200"/>
            <a:ext cx="2743200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01384" y="292608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Team responsibilities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3502152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84264" y="3383280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Feature development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88620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84264" y="3767328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Bug fixing &amp; hotfixes</a:t>
            </a:r>
          </a:p>
        </p:txBody>
      </p:sp>
      <p:sp>
        <p:nvSpPr>
          <p:cNvPr id="39" name="Oval 38"/>
          <p:cNvSpPr/>
          <p:nvPr/>
        </p:nvSpPr>
        <p:spPr>
          <a:xfrm>
            <a:off x="6528816" y="4270248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4264" y="4151376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Database migrations</a:t>
            </a:r>
          </a:p>
        </p:txBody>
      </p:sp>
      <p:sp>
        <p:nvSpPr>
          <p:cNvPr id="41" name="Oval 40"/>
          <p:cNvSpPr/>
          <p:nvPr/>
        </p:nvSpPr>
        <p:spPr>
          <a:xfrm>
            <a:off x="6528816" y="4654296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84264" y="4535424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Deployment &amp; operations</a:t>
            </a:r>
          </a:p>
        </p:txBody>
      </p:sp>
      <p:sp>
        <p:nvSpPr>
          <p:cNvPr id="43" name="Oval 42"/>
          <p:cNvSpPr/>
          <p:nvPr/>
        </p:nvSpPr>
        <p:spPr>
          <a:xfrm>
            <a:off x="6528816" y="5038344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84264" y="4919472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Security &amp; access control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34856" y="2743200"/>
            <a:ext cx="2743200" cy="3566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34856" y="2743200"/>
            <a:ext cx="2743200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3456" y="292608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User-facing surfaces</a:t>
            </a:r>
          </a:p>
        </p:txBody>
      </p:sp>
      <p:sp>
        <p:nvSpPr>
          <p:cNvPr id="48" name="Oval 47"/>
          <p:cNvSpPr/>
          <p:nvPr/>
        </p:nvSpPr>
        <p:spPr>
          <a:xfrm>
            <a:off x="9390888" y="3502152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546336" y="3383280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Customer mobile app</a:t>
            </a:r>
          </a:p>
        </p:txBody>
      </p:sp>
      <p:sp>
        <p:nvSpPr>
          <p:cNvPr id="50" name="Oval 49"/>
          <p:cNvSpPr/>
          <p:nvPr/>
        </p:nvSpPr>
        <p:spPr>
          <a:xfrm>
            <a:off x="9390888" y="388620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46336" y="3767328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Salon admin panel</a:t>
            </a:r>
          </a:p>
        </p:txBody>
      </p:sp>
      <p:sp>
        <p:nvSpPr>
          <p:cNvPr id="52" name="Oval 51"/>
          <p:cNvSpPr/>
          <p:nvPr/>
        </p:nvSpPr>
        <p:spPr>
          <a:xfrm>
            <a:off x="9390888" y="4270248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46336" y="4151376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RM (relationship manager) tools</a:t>
            </a:r>
          </a:p>
        </p:txBody>
      </p:sp>
      <p:sp>
        <p:nvSpPr>
          <p:cNvPr id="54" name="Oval 53"/>
          <p:cNvSpPr/>
          <p:nvPr/>
        </p:nvSpPr>
        <p:spPr>
          <a:xfrm>
            <a:off x="9390888" y="4654296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46336" y="4535424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Admin / internal panel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02 · DEVELOPMENT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Continuous delivery, month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Each marker represents a phase of work. Commit volume varies by month, but engineering effort remained continuous throughout.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657600"/>
            <a:ext cx="10881360" cy="0"/>
          </a:xfrm>
          <a:prstGeom prst="line">
            <a:avLst/>
          </a:prstGeom>
          <a:ln w="25400">
            <a:solidFill>
              <a:srgbClr val="CFD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1974029"/>
            <a:ext cx="457200" cy="1683571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653989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F4E8C"/>
                </a:solidFill>
                <a:latin typeface="Calibri"/>
              </a:rPr>
              <a:t>38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66160"/>
            <a:ext cx="182880" cy="18288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" y="37490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0F2A4A"/>
                </a:solidFill>
                <a:latin typeface="Calibri"/>
              </a:rPr>
              <a:t>Nov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4041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1">
                <a:solidFill>
                  <a:srgbClr val="2E86DE"/>
                </a:solidFill>
                <a:latin typeface="Calibri"/>
              </a:rPr>
              <a:t>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45720" y="4389120"/>
            <a:ext cx="15544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Production schema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Auth &amp; RM flows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Storage setup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Career applications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6480" y="3071309"/>
            <a:ext cx="457200" cy="586291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42160" y="2751269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F4E8C"/>
                </a:solidFill>
                <a:latin typeface="Calibri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2453640" y="3566160"/>
            <a:ext cx="182880" cy="18288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05000" y="37490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0F2A4A"/>
                </a:solidFill>
                <a:latin typeface="Calibri"/>
              </a:rPr>
              <a:t>Dec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4041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1">
                <a:solidFill>
                  <a:srgbClr val="2E86DE"/>
                </a:solidFill>
                <a:latin typeface="Calibri"/>
              </a:rPr>
              <a:t>Stabilisation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7840" y="4389120"/>
            <a:ext cx="15544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Career APIs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Document uploads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Activity 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040" y="2490396"/>
            <a:ext cx="457200" cy="11672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55720" y="2170356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F4E8C"/>
                </a:solidFill>
                <a:latin typeface="Calibri"/>
              </a:rPr>
              <a:t>22</a:t>
            </a:r>
          </a:p>
        </p:txBody>
      </p:sp>
      <p:sp>
        <p:nvSpPr>
          <p:cNvPr id="23" name="Oval 22"/>
          <p:cNvSpPr/>
          <p:nvPr/>
        </p:nvSpPr>
        <p:spPr>
          <a:xfrm>
            <a:off x="4267200" y="3566160"/>
            <a:ext cx="182880" cy="18288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8560" y="37490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0F2A4A"/>
                </a:solidFill>
                <a:latin typeface="Calibri"/>
              </a:rPr>
              <a:t>Jan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8560" y="4041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1">
                <a:solidFill>
                  <a:srgbClr val="2E86DE"/>
                </a:solidFill>
                <a:latin typeface="Calibri"/>
              </a:rPr>
              <a:t>Auth &amp;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1400" y="4389120"/>
            <a:ext cx="15544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Token validity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Profiler &amp; locust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CI pipeline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Test 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232212"/>
            <a:ext cx="457200" cy="142538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1912172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F4E8C"/>
                </a:solidFill>
                <a:latin typeface="Calibri"/>
              </a:rPr>
              <a:t>30</a:t>
            </a:r>
          </a:p>
        </p:txBody>
      </p:sp>
      <p:sp>
        <p:nvSpPr>
          <p:cNvPr id="29" name="Oval 28"/>
          <p:cNvSpPr/>
          <p:nvPr/>
        </p:nvSpPr>
        <p:spPr>
          <a:xfrm>
            <a:off x="6080760" y="3566160"/>
            <a:ext cx="182880" cy="18288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32120" y="37490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0F2A4A"/>
                </a:solidFill>
                <a:latin typeface="Calibri"/>
              </a:rPr>
              <a:t>Feb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041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1">
                <a:solidFill>
                  <a:srgbClr val="2E86DE"/>
                </a:solidFill>
                <a:latin typeface="Calibri"/>
              </a:rPr>
              <a:t>Compliance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389120"/>
            <a:ext cx="15544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Agreement uploads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Payment reminders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Business hours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Email reliability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57160" y="2813125"/>
            <a:ext cx="457200" cy="844475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82840" y="2493085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F4E8C"/>
                </a:solidFill>
                <a:latin typeface="Calibri"/>
              </a:rPr>
              <a:t>12</a:t>
            </a:r>
          </a:p>
        </p:txBody>
      </p:sp>
      <p:sp>
        <p:nvSpPr>
          <p:cNvPr id="35" name="Oval 34"/>
          <p:cNvSpPr/>
          <p:nvPr/>
        </p:nvSpPr>
        <p:spPr>
          <a:xfrm>
            <a:off x="7894320" y="3566160"/>
            <a:ext cx="182880" cy="18288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45680" y="37490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0F2A4A"/>
                </a:solidFill>
                <a:latin typeface="Calibri"/>
              </a:rPr>
              <a:t>Mar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5680" y="4041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1">
                <a:solidFill>
                  <a:srgbClr val="2E86DE"/>
                </a:solidFill>
                <a:latin typeface="Calibri"/>
              </a:rPr>
              <a:t>Vendor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8520" y="4389120"/>
            <a:ext cx="15544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Outlet &amp; GST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OTP service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Vendor approvals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70720" y="1554480"/>
            <a:ext cx="457200" cy="21031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6400" y="1234440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F4E8C"/>
                </a:solidFill>
                <a:latin typeface="Calibri"/>
              </a:rPr>
              <a:t>51</a:t>
            </a:r>
          </a:p>
        </p:txBody>
      </p:sp>
      <p:sp>
        <p:nvSpPr>
          <p:cNvPr id="41" name="Oval 40"/>
          <p:cNvSpPr/>
          <p:nvPr/>
        </p:nvSpPr>
        <p:spPr>
          <a:xfrm>
            <a:off x="9707880" y="3566160"/>
            <a:ext cx="182880" cy="18288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59240" y="37490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0F2A4A"/>
                </a:solidFill>
                <a:latin typeface="Calibri"/>
              </a:rPr>
              <a:t>Apr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9240" y="4041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1">
                <a:solidFill>
                  <a:srgbClr val="2E86DE"/>
                </a:solidFill>
                <a:latin typeface="Calibri"/>
              </a:rPr>
              <a:t>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22080" y="4389120"/>
            <a:ext cx="15544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Facilities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Gender categories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Reviews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Favourites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Discounts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84280" y="2296758"/>
            <a:ext cx="457200" cy="136084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109960" y="1976718"/>
            <a:ext cx="1005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F4E8C"/>
                </a:solidFill>
                <a:latin typeface="Calibri"/>
              </a:rPr>
              <a:t>28</a:t>
            </a:r>
          </a:p>
        </p:txBody>
      </p:sp>
      <p:sp>
        <p:nvSpPr>
          <p:cNvPr id="47" name="Oval 46"/>
          <p:cNvSpPr/>
          <p:nvPr/>
        </p:nvSpPr>
        <p:spPr>
          <a:xfrm>
            <a:off x="11521440" y="3566160"/>
            <a:ext cx="182880" cy="182880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72800" y="37490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0F2A4A"/>
                </a:solidFill>
                <a:latin typeface="Calibri"/>
              </a:rPr>
              <a:t>May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4041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50" b="1">
                <a:solidFill>
                  <a:srgbClr val="2E86DE"/>
                </a:solidFill>
                <a:latin typeface="Calibri"/>
              </a:rPr>
              <a:t>B2B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5640" y="4389120"/>
            <a:ext cx="155448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Products module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Cart &amp; checkout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B2B pricing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Subcategories</a:t>
            </a:r>
          </a:p>
          <a:p>
            <a:pPr algn="ctr"/>
            <a:r>
              <a:rPr sz="850" b="0">
                <a:solidFill>
                  <a:srgbClr val="6B7380"/>
                </a:solidFill>
                <a:latin typeface="Calibri"/>
              </a:rPr>
              <a:t>• CORS hardening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1874519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0F2A4A"/>
                </a:solidFill>
                <a:latin typeface="Calibri"/>
              </a:rPr>
              <a:t>Commit volume by month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2148840"/>
            <a:ext cx="228600" cy="1371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" y="2084831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B7380"/>
                </a:solidFill>
                <a:latin typeface="Calibri"/>
              </a:rPr>
              <a:t>Bar height = commits in that month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03 · GIT ACTIVITY &amp;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Each commit is a unit of engineering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8521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dirty="0">
                <a:solidFill>
                  <a:srgbClr val="0F2A4A"/>
                </a:solidFill>
                <a:latin typeface="Calibri"/>
              </a:rPr>
              <a:t>What a commit represents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85216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dirty="0">
                <a:solidFill>
                  <a:srgbClr val="1A1F2C"/>
                </a:solidFill>
                <a:latin typeface="Calibri"/>
              </a:rPr>
              <a:t>Software maintenance often happens behind the scenes. While the user interface may appear similar between releases, continuous engineering work is required to improve stability, scalability, security and performance.</a:t>
            </a:r>
          </a:p>
          <a:p>
            <a:pPr algn="l"/>
            <a:endParaRPr sz="1200" b="0" dirty="0">
              <a:solidFill>
                <a:srgbClr val="1A1F2C"/>
              </a:solidFill>
              <a:latin typeface="Calibri"/>
            </a:endParaRPr>
          </a:p>
          <a:p>
            <a:pPr algn="l"/>
            <a:r>
              <a:rPr sz="1200" b="0" dirty="0">
                <a:solidFill>
                  <a:srgbClr val="1A1F2C"/>
                </a:solidFill>
                <a:latin typeface="Calibri"/>
              </a:rPr>
              <a:t>Each commit on the right may include any combination of: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947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dirty="0">
                <a:solidFill>
                  <a:srgbClr val="1A1F2C"/>
                </a:solidFill>
                <a:latin typeface="Calibri"/>
              </a:rPr>
              <a:t>Multiple file updates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87368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995928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Backend logic improvements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79976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88536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Database schema changes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672584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581144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New feature code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0" y="3794760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3703320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dirty="0">
                <a:solidFill>
                  <a:srgbClr val="1A1F2C"/>
                </a:solidFill>
                <a:latin typeface="Calibri"/>
              </a:rPr>
              <a:t>Bug fixes and hotfixes</a:t>
            </a:r>
          </a:p>
        </p:txBody>
      </p:sp>
      <p:sp>
        <p:nvSpPr>
          <p:cNvPr id="19" name="Oval 18"/>
          <p:cNvSpPr/>
          <p:nvPr/>
        </p:nvSpPr>
        <p:spPr>
          <a:xfrm>
            <a:off x="3474720" y="4087368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3995928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Refactoring of existing code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4379976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4288536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Performance optimisations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0" y="4672584"/>
            <a:ext cx="91440" cy="9144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4581144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1A1F2C"/>
                </a:solidFill>
                <a:latin typeface="Calibri"/>
              </a:rPr>
              <a:t>Security &amp; access-control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280160"/>
            <a:ext cx="49377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0F2A4A"/>
                </a:solidFill>
                <a:latin typeface="Calibri"/>
              </a:rPr>
              <a:t>Commit heatmap (illustrative)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55448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67728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68896" y="155448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70064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71232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0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73568" y="155448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74736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75904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77072" y="155448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78240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79408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80576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381744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582912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784080" y="1554480"/>
            <a:ext cx="164592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985248" y="1554480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186416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387584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588752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789920" y="155448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991088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1192256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393424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594592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795760" y="155448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766560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7728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168896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70064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571232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772400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973568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74736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75904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577072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778240" y="1755648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979408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180576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381744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582912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784080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985248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186416" y="1755648"/>
            <a:ext cx="164592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387584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588752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789920" y="175564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0991088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192256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393424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594592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795760" y="175564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766560" y="1956816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967728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168896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7370064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7571232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772400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73568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174736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375904" y="1956816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577072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778240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979408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180576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381744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582912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784080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985248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0186416" y="1956816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387584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588752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0789920" y="1956816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0991088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192256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393424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1594592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1795760" y="1956816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766560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967728" y="2157984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168896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7370064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571232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7772400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973568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8174736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375904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8577072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78240" y="2157984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979408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9180576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9381744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9582912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9784080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9985248" y="2157984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0186416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387584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588752" y="2157984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0789920" y="2157984"/>
            <a:ext cx="164592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0991088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1192256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1393424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1594592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1795760" y="2157984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6766560" y="2359152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6967728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168896" y="2359152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370064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7571232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7772400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973568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8174736" y="2359152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375904" y="2359152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8577072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8778240" y="2359152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979408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9180576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9381744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9582912" y="2359152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9784080" y="2359152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9985248" y="2359152"/>
            <a:ext cx="164592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0186416" y="2359152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0387584" y="2359152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0588752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0789920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0991088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1192256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1393424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1594592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1795760" y="2359152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6766560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6967728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168896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370064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571232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772400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973568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174736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375904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77072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78240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979408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9180576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381744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582912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784080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985248" y="2560320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10186416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10387584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0588752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0789920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991088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1192256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1393424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1594592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1795760" y="2560320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6766560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6967728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7168896" y="2761488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7370064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7571232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7772400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7973568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8174736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8375904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8577072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778240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8979408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9180576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9381744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9582912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9784080" y="2761488"/>
            <a:ext cx="164592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9985248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10186416" y="2761488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10387584" y="2761488"/>
            <a:ext cx="164592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10588752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10789920" y="2761488"/>
            <a:ext cx="164592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10991088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11192256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11393424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11594592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11795760" y="2761488"/>
            <a:ext cx="164592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6766560" y="3099816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Less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78040" y="3136392"/>
            <a:ext cx="228600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7470648" y="3136392"/>
            <a:ext cx="228600" cy="164592"/>
          </a:xfrm>
          <a:prstGeom prst="rect">
            <a:avLst/>
          </a:prstGeom>
          <a:solidFill>
            <a:srgbClr val="B6D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7763256" y="3136392"/>
            <a:ext cx="228600" cy="1645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055864" y="3136392"/>
            <a:ext cx="228600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8412480" y="3099816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More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766560" y="4297680"/>
            <a:ext cx="49377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0F2A4A"/>
                </a:solidFill>
                <a:latin typeface="Calibri"/>
              </a:rPr>
              <a:t>Contributors (commits)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766560" y="4617720"/>
            <a:ext cx="1325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ve-sca-via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138160" y="4663440"/>
            <a:ext cx="3383280" cy="20116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11567160" y="46177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F4E8C"/>
                </a:solidFill>
                <a:latin typeface="Calibri"/>
              </a:rPr>
              <a:t>85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766560" y="4983480"/>
            <a:ext cx="1325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Safdar Ali Niazi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138160" y="5029200"/>
            <a:ext cx="1592131" cy="20116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9776011" y="498348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F4E8C"/>
                </a:solidFill>
                <a:latin typeface="Calibri"/>
              </a:rPr>
              <a:t>40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766560" y="5349240"/>
            <a:ext cx="1325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safdaraliniazi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138160" y="5394960"/>
            <a:ext cx="1472721" cy="20116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9656601" y="534924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F4E8C"/>
                </a:solidFill>
                <a:latin typeface="Calibri"/>
              </a:rPr>
              <a:t>37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766560" y="5715000"/>
            <a:ext cx="1325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Your Name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138160" y="5760720"/>
            <a:ext cx="1233902" cy="20116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9417782" y="571500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F4E8C"/>
                </a:solidFill>
                <a:latin typeface="Calibri"/>
              </a:rPr>
              <a:t>31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04 · BACKEND &amp; DATABASE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Foundations that sit beneath every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6B7380"/>
                </a:solidFill>
                <a:latin typeface="Calibri"/>
              </a:rPr>
              <a:t>Most of the engineering effort lives below the UI. These are the categories of backend and database work delivered during the engagement.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09728" cy="21031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Database structure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83464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57 versioned migrations applied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10896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New tables: products, orders, carts, OTPs, activity logs, email logs, careers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38328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29184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Service subcategories, gender categories, facilities, business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194560"/>
            <a:ext cx="109728" cy="21031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APIs &amp; business logic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83464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16 API modules covering vendors, salons, RM, admin, payments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10896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01752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Booking, products, cart and checkout flows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38328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329184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Review system, favourites, discounts, B2B pricing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109728" cy="21031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57200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Authentication &amp; security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507492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498348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Custom JWT + Supabase auth flow consolidated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534924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525780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Token validity timestamps &amp; forced logout-all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562356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553212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OTP service (MessageCentral) with rate limiting and lockouts</a:t>
            </a:r>
          </a:p>
        </p:txBody>
      </p:sp>
      <p:sp>
        <p:nvSpPr>
          <p:cNvPr id="35" name="Oval 34"/>
          <p:cNvSpPr/>
          <p:nvPr/>
        </p:nvSpPr>
        <p:spPr>
          <a:xfrm>
            <a:off x="868680" y="589788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580644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Password reset / forgot-password flows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" y="617220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608076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Role-based access (admin / RM / vendor / customer)</a:t>
            </a:r>
          </a:p>
        </p:txBody>
      </p:sp>
      <p:sp>
        <p:nvSpPr>
          <p:cNvPr id="39" name="Oval 38"/>
          <p:cNvSpPr/>
          <p:nvPr/>
        </p:nvSpPr>
        <p:spPr>
          <a:xfrm>
            <a:off x="868680" y="644652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1560" y="635508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Storage bucket policies &amp; private agreement uploads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43484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4434840"/>
            <a:ext cx="109728" cy="21031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457200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Reliability &amp; ops</a:t>
            </a:r>
          </a:p>
        </p:txBody>
      </p:sp>
      <p:sp>
        <p:nvSpPr>
          <p:cNvPr id="44" name="Oval 43"/>
          <p:cNvSpPr/>
          <p:nvPr/>
        </p:nvSpPr>
        <p:spPr>
          <a:xfrm>
            <a:off x="6492240" y="507492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498348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Database client singleton &amp; refresh logic</a:t>
            </a:r>
          </a:p>
        </p:txBody>
      </p:sp>
      <p:sp>
        <p:nvSpPr>
          <p:cNvPr id="46" name="Oval 45"/>
          <p:cNvSpPr/>
          <p:nvPr/>
        </p:nvSpPr>
        <p:spPr>
          <a:xfrm>
            <a:off x="6492240" y="534924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0" y="525780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Email delivery hardening + email_logs table</a:t>
            </a:r>
          </a:p>
        </p:txBody>
      </p:sp>
      <p:sp>
        <p:nvSpPr>
          <p:cNvPr id="48" name="Oval 47"/>
          <p:cNvSpPr/>
          <p:nvPr/>
        </p:nvSpPr>
        <p:spPr>
          <a:xfrm>
            <a:off x="6492240" y="562356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0" y="553212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Activity logging for admin visibility</a:t>
            </a:r>
          </a:p>
        </p:txBody>
      </p:sp>
      <p:sp>
        <p:nvSpPr>
          <p:cNvPr id="50" name="Oval 49"/>
          <p:cNvSpPr/>
          <p:nvPr/>
        </p:nvSpPr>
        <p:spPr>
          <a:xfrm>
            <a:off x="6492240" y="589788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0" y="580644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CORS preflight fixes &amp; deployment configuration</a:t>
            </a:r>
          </a:p>
        </p:txBody>
      </p:sp>
      <p:sp>
        <p:nvSpPr>
          <p:cNvPr id="52" name="Oval 51"/>
          <p:cNvSpPr/>
          <p:nvPr/>
        </p:nvSpPr>
        <p:spPr>
          <a:xfrm>
            <a:off x="6492240" y="617220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0" y="608076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Locust load profile &amp; profiler integration</a:t>
            </a:r>
          </a:p>
        </p:txBody>
      </p:sp>
      <p:sp>
        <p:nvSpPr>
          <p:cNvPr id="54" name="Oval 53"/>
          <p:cNvSpPr/>
          <p:nvPr/>
        </p:nvSpPr>
        <p:spPr>
          <a:xfrm>
            <a:off x="6492240" y="6446520"/>
            <a:ext cx="73152" cy="73152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75120" y="635508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A1F2C"/>
                </a:solidFill>
                <a:latin typeface="Calibri"/>
              </a:rPr>
              <a:t>CI pipeline for safer deployments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05 · NEW FEATURES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Capabilities added during this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703320" cy="2423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703320" cy="4114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B2B Products &amp; Wholesale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E67E22"/>
                </a:solidFill>
                <a:latin typeface="Calibri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429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Salons could only sell services. No path to sell or buy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7AE60"/>
                </a:solidFill>
                <a:latin typeface="Calibri"/>
              </a:rPr>
              <a:t>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Full products module with cart, checkout, payment, and B2B (wholesale) pricing for regular buyers.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E86DE"/>
                </a:solidFill>
                <a:latin typeface="Calibri"/>
              </a:rPr>
              <a:t>TECHNICAL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0156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Database tables, APIs, payment flow, B2B price logic, admin order management.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3703320" cy="2423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417320"/>
            <a:ext cx="3703320" cy="4114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146304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Hierarchical Service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92024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E67E22"/>
                </a:solidFill>
                <a:latin typeface="Calibri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121408"/>
            <a:ext cx="3429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Flat category list limited how services could be organised.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1460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7AE60"/>
                </a:solidFill>
                <a:latin typeface="Calibri"/>
              </a:rPr>
              <a:t>DELIVERED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1576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Subcategories with vendor &amp; RM support — better browsing and admin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0040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E86DE"/>
                </a:solidFill>
                <a:latin typeface="Calibri"/>
              </a:rPr>
              <a:t>TECHNICAL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0156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service_subcategories table, CRUD APIs, vendor &amp; RM integration.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417320"/>
            <a:ext cx="3703320" cy="2423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703320" cy="4114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146304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Reviews &amp; Favourites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92024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E67E22"/>
                </a:solidFill>
                <a:latin typeface="Calibri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121408"/>
            <a:ext cx="3429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No social proof, no way for users to save salons.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51460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7AE60"/>
                </a:solidFill>
                <a:latin typeface="Calibri"/>
              </a:rPr>
              <a:t>DELIVERED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1576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Customers can review salons and favourite ones they like.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20040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E86DE"/>
                </a:solidFill>
                <a:latin typeface="Calibri"/>
              </a:rPr>
              <a:t>TECHNICAL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40156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Reviews schema &amp; APIs, favourites table, customer endpoints.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77640"/>
            <a:ext cx="3703320" cy="2423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3977640"/>
            <a:ext cx="3703320" cy="4114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2336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Vendor Onboarding (facilities, GST, outlets)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8056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E67E22"/>
                </a:solidFill>
                <a:latin typeface="Calibri"/>
              </a:rPr>
              <a:t>PROBLEM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681728"/>
            <a:ext cx="3429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Vendor data captured only minimal information.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7492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7AE60"/>
                </a:solidFill>
                <a:latin typeface="Calibri"/>
              </a:rPr>
              <a:t>DELIVERED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27608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Richer vendor profiles for compliance and discoverability.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6072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E86DE"/>
                </a:solidFill>
                <a:latin typeface="Calibri"/>
              </a:rPr>
              <a:t>TECHNICAL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6188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JSONB facilities, gender categories, outlet &amp; GST fields, approval logic.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977640"/>
            <a:ext cx="3703320" cy="2423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89120" y="3977640"/>
            <a:ext cx="3703320" cy="4114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0" y="402336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OTP Login (MessageCentral)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48056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E67E22"/>
                </a:solidFill>
                <a:latin typeface="Calibri"/>
              </a:rPr>
              <a:t>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681728"/>
            <a:ext cx="3429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Email-only login restricted some user segments.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07492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7AE60"/>
                </a:solidFill>
                <a:latin typeface="Calibri"/>
              </a:rPr>
              <a:t>DELIVERED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27608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Phone-based OTP login with rate limiting and lockouts.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576072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E86DE"/>
                </a:solidFill>
                <a:latin typeface="Calibri"/>
              </a:rPr>
              <a:t>TECHNICAL 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596188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otp_service, otp_attempts table, send/verify endpoints, security hardening.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977640"/>
            <a:ext cx="3703320" cy="24231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229600" y="3977640"/>
            <a:ext cx="3703320" cy="4114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0" y="4023360"/>
            <a:ext cx="3429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Career Applications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48056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E67E22"/>
                </a:solidFill>
                <a:latin typeface="Calibri"/>
              </a:rPr>
              <a:t>PROBLEM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681728"/>
            <a:ext cx="3429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No structured way to receive applications.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07492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7AE60"/>
                </a:solidFill>
                <a:latin typeface="Calibri"/>
              </a:rPr>
              <a:t>DELIVERED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27608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End-to-end career application capture with document uploads.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760720"/>
            <a:ext cx="34290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1">
                <a:solidFill>
                  <a:srgbClr val="2E86DE"/>
                </a:solidFill>
                <a:latin typeface="Calibri"/>
              </a:rPr>
              <a:t>TECHNICAL 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5961888"/>
            <a:ext cx="34290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1A1F2C"/>
                </a:solidFill>
                <a:latin typeface="Calibri"/>
              </a:rPr>
              <a:t>Schema, status flow, Cloudinary integration, status update API.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06 · MAINTENANCE &amp;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The work users don't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6070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F4E8C"/>
                </a:solidFill>
                <a:latin typeface="Calibri"/>
              </a:rPr>
              <a:t>An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Calibri"/>
              </a:rPr>
              <a:t>Like maintaining a car engine, many important improvements happen internally and may not change the exterior appearance. The vehicle still looks the same — but it starts more reliably, runs more efficiently, and is safer to drive.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926080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26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Bug fixing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22 explicit fix commits, plus inline corrections in feature PRs.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2697480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39312" y="2926080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9312" y="2926080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2926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Downtime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474720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Email reliability, payment idempotency, retry-safe order flows.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2697480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01384" y="2926080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2926080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2926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Performance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474720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LRU cache for Razorpay credentials, geocoding cache, query tuning.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2697480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63456" y="2926080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3456" y="2926080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292608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Dependency updates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474720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Python runtime pinned, Pillow/SDK updates, deployment config cleanup.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90871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7240" y="4919471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919471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919471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Security patches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68111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Token rotation, storage policies, OTP rate limits, CORS hardening.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10712" y="4690871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639312" y="4919471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39312" y="4919471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87952" y="4919471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Refactoring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5468111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Auth flow consolidation, duplicate code removal, sync supabase client.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4690871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501384" y="4919471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01384" y="4919471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0024" y="4919471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Scalability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1384" y="5468111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Locust load tests, profiler instrumentation, async-safe payment flow.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34856" y="4690871"/>
            <a:ext cx="27432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363456" y="4919471"/>
            <a:ext cx="411480" cy="4114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3456" y="4919471"/>
            <a:ext cx="4114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4919471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50" b="1">
                <a:solidFill>
                  <a:srgbClr val="0F2A4A"/>
                </a:solidFill>
                <a:latin typeface="Calibri"/>
              </a:rPr>
              <a:t>Monitoring &amp; logs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6" y="5468111"/>
            <a:ext cx="23774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Activity logs, email logs, structured rich logging.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07 · METRICS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Quantified output, drawn directly from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828800" cy="1325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E9F1FA"/>
                </a:solidFill>
                <a:latin typeface="Calibri"/>
              </a:rPr>
              <a:t>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E9F1FA"/>
                </a:solidFill>
                <a:latin typeface="Calibri"/>
              </a:rPr>
              <a:t>Individual code changes 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417320"/>
            <a:ext cx="1828800" cy="1325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8" y="155448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10312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E9F1FA"/>
                </a:solidFill>
                <a:latin typeface="Calibri"/>
              </a:rPr>
              <a:t>Pull requests merged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37744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E9F1FA"/>
                </a:solidFill>
                <a:latin typeface="Calibri"/>
              </a:rPr>
              <a:t>Reviewed change 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17320"/>
            <a:ext cx="1828800" cy="1325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155448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10312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E9F1FA"/>
                </a:solidFill>
                <a:latin typeface="Calibri"/>
              </a:rPr>
              <a:t>Database migrations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37744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E9F1FA"/>
                </a:solidFill>
                <a:latin typeface="Calibri"/>
              </a:rPr>
              <a:t>Versioned schema changes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417320"/>
            <a:ext cx="1828800" cy="1325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064" y="155448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10312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E9F1FA"/>
                </a:solidFill>
                <a:latin typeface="Calibri"/>
              </a:rPr>
              <a:t>API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237744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E9F1FA"/>
                </a:solidFill>
                <a:latin typeface="Calibri"/>
              </a:rPr>
              <a:t>Backend feature areas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1417320"/>
            <a:ext cx="1828800" cy="1325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9872" y="155448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10312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E9F1FA"/>
                </a:solidFill>
                <a:latin typeface="Calibri"/>
              </a:rPr>
              <a:t>Service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237744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E9F1FA"/>
                </a:solidFill>
                <a:latin typeface="Calibri"/>
              </a:rPr>
              <a:t>Business-logic layers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1417320"/>
            <a:ext cx="1828800" cy="1325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155448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~115K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10312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E9F1FA"/>
                </a:solidFill>
                <a:latin typeface="Calibri"/>
              </a:rPr>
              <a:t>Lines added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37744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E9F1FA"/>
                </a:solidFill>
                <a:latin typeface="Calibri"/>
              </a:rPr>
              <a:t>Code authored across the period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71800"/>
            <a:ext cx="7132320" cy="338328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3108960"/>
            <a:ext cx="66751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Calibri"/>
              </a:rPr>
              <a:t>Commits per month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731520" y="3474720"/>
          <a:ext cx="67665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Rectangle 33"/>
          <p:cNvSpPr/>
          <p:nvPr/>
        </p:nvSpPr>
        <p:spPr>
          <a:xfrm>
            <a:off x="7863840" y="2971800"/>
            <a:ext cx="3749039" cy="338328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2440" y="3108960"/>
            <a:ext cx="329183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0F2A4A"/>
                </a:solidFill>
                <a:latin typeface="Calibri"/>
              </a:rPr>
              <a:t>Work distribution (commits)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8046720" y="3474720"/>
          <a:ext cx="3383279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Rectangle 3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Calibri"/>
              </a:rPr>
              <a:t>08 · TECHNICAL CONTEXT, SIMPLIFIED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Calibri"/>
              </a:rPr>
              <a:t>How UI, backend and data fit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6858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0F2A4A"/>
                </a:solidFill>
                <a:latin typeface="Calibri"/>
              </a:rPr>
              <a:t>User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6858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0F2A4A"/>
                </a:solidFill>
                <a:latin typeface="Calibri"/>
              </a:rPr>
              <a:t>Mobile app · Salon admin · RM tools · Admin panel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251960" y="2450592"/>
            <a:ext cx="274320" cy="173736"/>
          </a:xfrm>
          <a:prstGeom prst="down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CFE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15768"/>
            <a:ext cx="6858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F4E8C"/>
                </a:solidFill>
                <a:latin typeface="Calibri"/>
              </a:rPr>
              <a:t>API Layer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6858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F4E8C"/>
                </a:solidFill>
                <a:latin typeface="Calibri"/>
              </a:rPr>
              <a:t>Authentication · Bookings · Products · Payments · RM · Vendors · Admin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51960" y="3547872"/>
            <a:ext cx="274320" cy="173736"/>
          </a:xfrm>
          <a:prstGeom prst="down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A8C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6858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F4E8C"/>
                </a:solidFill>
                <a:latin typeface="Calibri"/>
              </a:rPr>
              <a:t>Services &amp; 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6858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1F4E8C"/>
                </a:solidFill>
                <a:latin typeface="Calibri"/>
              </a:rPr>
              <a:t>Orders · Pricing · OTP · Email · Activity logs · Geocoding · Storage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251960" y="4645152"/>
            <a:ext cx="274320" cy="173736"/>
          </a:xfrm>
          <a:prstGeom prst="down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480060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910328"/>
            <a:ext cx="6858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&amp;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6858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PostgreSQL (Supabase) · Storage buckets · Razorpay · Cloudinary · MessageCentral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508760"/>
            <a:ext cx="3383280" cy="484632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1508760"/>
            <a:ext cx="3383280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1691640"/>
            <a:ext cx="2926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103120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F4E8C"/>
                </a:solidFill>
                <a:latin typeface="Calibri"/>
              </a:rPr>
              <a:t>UI is the tip of the iceberg.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377440"/>
            <a:ext cx="29260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Every screen depends on dozens of API endpoints, services and database tables.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154680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F4E8C"/>
                </a:solidFill>
                <a:latin typeface="Calibri"/>
              </a:rPr>
              <a:t>Maintenance is structural.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429000"/>
            <a:ext cx="29260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Schema changes, auth hardening and payment integrity have no visible UI — but the platform cannot function safely without them.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206240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F4E8C"/>
                </a:solidFill>
                <a:latin typeface="Calibri"/>
              </a:rPr>
              <a:t>Data flows are bidirectional.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480560"/>
            <a:ext cx="29260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A simple action (e.g. booking) touches auth, services, salons, payments, storage and logs.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257800"/>
            <a:ext cx="2926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F4E8C"/>
                </a:solidFill>
                <a:latin typeface="Calibri"/>
              </a:rPr>
              <a:t>Changes compound.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5532120"/>
            <a:ext cx="29260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>
                <a:solidFill>
                  <a:srgbClr val="1A1F2C"/>
                </a:solidFill>
                <a:latin typeface="Calibri"/>
              </a:rPr>
              <a:t>Each improvement to a lower layer benefits every feature built above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CB95-A04E-CA81-90C2-4AFE38E6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52190E-E131-5B87-B4A4-E2977BC8B9F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66705-0CCF-1B79-D559-6105C3440D63}"/>
              </a:ext>
            </a:extLst>
          </p:cNvPr>
          <p:cNvSpPr txBox="1"/>
          <p:nvPr/>
        </p:nvSpPr>
        <p:spPr>
          <a:xfrm>
            <a:off x="548640" y="320040"/>
            <a:ext cx="9144000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dirty="0">
                <a:solidFill>
                  <a:srgbClr val="2E86DE"/>
                </a:solidFill>
                <a:latin typeface="Calibri"/>
              </a:rPr>
              <a:t>0</a:t>
            </a:r>
            <a:r>
              <a:rPr lang="en-IN" sz="1100" b="1" dirty="0">
                <a:solidFill>
                  <a:srgbClr val="2E86DE"/>
                </a:solidFill>
                <a:latin typeface="Calibri"/>
              </a:rPr>
              <a:t>9</a:t>
            </a:r>
            <a:r>
              <a:rPr sz="1100" b="1" dirty="0">
                <a:solidFill>
                  <a:srgbClr val="2E86DE"/>
                </a:solidFill>
                <a:latin typeface="Calibri"/>
              </a:rPr>
              <a:t> ·</a:t>
            </a:r>
            <a:r>
              <a:rPr lang="en-IN" sz="1100" b="1" dirty="0">
                <a:solidFill>
                  <a:srgbClr val="2E86DE"/>
                </a:solidFill>
                <a:latin typeface="Calibri"/>
              </a:rPr>
              <a:t>Commits </a:t>
            </a:r>
            <a:endParaRPr sz="1100" b="1" dirty="0">
              <a:solidFill>
                <a:srgbClr val="2E86D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23E0B-D410-866A-D872-AE3AD778C3AE}"/>
              </a:ext>
            </a:extLst>
          </p:cNvPr>
          <p:cNvSpPr txBox="1"/>
          <p:nvPr/>
        </p:nvSpPr>
        <p:spPr>
          <a:xfrm>
            <a:off x="548640" y="1986915"/>
            <a:ext cx="3451860" cy="13480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IN" sz="2800" b="1" dirty="0">
                <a:solidFill>
                  <a:srgbClr val="0F2A4A"/>
                </a:solidFill>
                <a:latin typeface="Calibri"/>
              </a:rPr>
              <a:t>It includes all the activity.</a:t>
            </a:r>
          </a:p>
          <a:p>
            <a:pPr algn="l"/>
            <a:endParaRPr lang="en-IN" sz="2800" b="1" dirty="0">
              <a:solidFill>
                <a:srgbClr val="0F2A4A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A0CE6D-8A02-B46B-3517-40C19C81412B}"/>
              </a:ext>
            </a:extLst>
          </p:cNvPr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1B5CCE-0F4B-0834-8D22-7D1348950E15}"/>
              </a:ext>
            </a:extLst>
          </p:cNvPr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594A7E-0DC3-9D1C-5D46-F50B761B1FC7}"/>
              </a:ext>
            </a:extLst>
          </p:cNvPr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Salon Platform — Development Progress Report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E7606F-4D76-961B-9298-883F881D33F4}"/>
              </a:ext>
            </a:extLst>
          </p:cNvPr>
          <p:cNvSpPr txBox="1"/>
          <p:nvPr/>
        </p:nvSpPr>
        <p:spPr>
          <a:xfrm>
            <a:off x="10515600" y="6565392"/>
            <a:ext cx="1371600" cy="1938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dirty="0">
                <a:solidFill>
                  <a:srgbClr val="6B7380"/>
                </a:solidFill>
                <a:latin typeface="Calibri"/>
              </a:rPr>
              <a:t>Page 1</a:t>
            </a:r>
            <a:r>
              <a:rPr lang="en-IN" sz="900" b="0" dirty="0">
                <a:solidFill>
                  <a:srgbClr val="6B7380"/>
                </a:solidFill>
                <a:latin typeface="Calibri"/>
              </a:rPr>
              <a:t>1</a:t>
            </a:r>
            <a:endParaRPr sz="900" b="0" dirty="0">
              <a:solidFill>
                <a:srgbClr val="6B7380"/>
              </a:solidFill>
              <a:latin typeface="Calibri"/>
            </a:endParaRPr>
          </a:p>
        </p:txBody>
      </p:sp>
      <p:pic>
        <p:nvPicPr>
          <p:cNvPr id="231" name="Video 230">
            <a:hlinkClick r:id="" action="ppaction://media"/>
            <a:extLst>
              <a:ext uri="{FF2B5EF4-FFF2-40B4-BE49-F238E27FC236}">
                <a16:creationId xmlns:a16="http://schemas.microsoft.com/office/drawing/2014/main" id="{959C54A8-E03C-47EF-951F-76807A7D18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2615" y="317152"/>
            <a:ext cx="5291390" cy="618423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349971A-A2C3-790D-10A8-CF90D7749CC0}"/>
              </a:ext>
            </a:extLst>
          </p:cNvPr>
          <p:cNvSpPr txBox="1"/>
          <p:nvPr/>
        </p:nvSpPr>
        <p:spPr>
          <a:xfrm>
            <a:off x="701040" y="701040"/>
            <a:ext cx="109728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IN" sz="2800" b="1" dirty="0">
                <a:solidFill>
                  <a:srgbClr val="0F2A4A"/>
                </a:solidFill>
                <a:latin typeface="Calibri"/>
              </a:rPr>
              <a:t>These all are Git commits </a:t>
            </a:r>
          </a:p>
        </p:txBody>
      </p:sp>
    </p:spTree>
    <p:extLst>
      <p:ext uri="{BB962C8B-B14F-4D97-AF65-F5344CB8AC3E}">
        <p14:creationId xmlns:p14="http://schemas.microsoft.com/office/powerpoint/2010/main" val="262330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35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31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2E86DE"/>
                </a:solidFill>
                <a:latin typeface="Calibri"/>
              </a:rPr>
              <a:t>09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Continuous engineering, transparent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E9F1FA"/>
                </a:solidFill>
                <a:latin typeface="Calibri"/>
              </a:rPr>
              <a:t>A summary of the commitments going forward.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703320" cy="31089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703320" cy="914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>
                <a:solidFill>
                  <a:srgbClr val="1F4E8C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3246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Calibri"/>
              </a:rPr>
              <a:t>Stability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24612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>
                <a:solidFill>
                  <a:srgbClr val="1A1F2C"/>
                </a:solidFill>
                <a:latin typeface="Calibri"/>
              </a:rPr>
              <a:t>Continued investment in monitoring, logging, automated tests and load profiling so issues are detected and resolved early — often before users encounter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377440"/>
            <a:ext cx="3703320" cy="31089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2377440"/>
            <a:ext cx="3703320" cy="914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45152" y="2743200"/>
            <a:ext cx="640080" cy="6400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743200"/>
            <a:ext cx="640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>
                <a:solidFill>
                  <a:srgbClr val="1F4E8C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520440"/>
            <a:ext cx="3246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Calibri"/>
              </a:rPr>
              <a:t>Scalability &amp;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069080"/>
            <a:ext cx="324612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>
                <a:solidFill>
                  <a:srgbClr val="1A1F2C"/>
                </a:solidFill>
                <a:latin typeface="Calibri"/>
              </a:rPr>
              <a:t>Ongoing refinement of database queries, caching, and async paths so the platform absorbs growth in traffic, vendors and product orders without degradation.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2377440"/>
            <a:ext cx="3703320" cy="3108960"/>
          </a:xfrm>
          <a:prstGeom prst="rect">
            <a:avLst/>
          </a:prstGeom>
          <a:solidFill>
            <a:srgbClr val="F5F7F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93024" y="2377440"/>
            <a:ext cx="3703320" cy="914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67344" y="2743200"/>
            <a:ext cx="640080" cy="640080"/>
          </a:xfrm>
          <a:prstGeom prst="ellipse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67344" y="2743200"/>
            <a:ext cx="64008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>
                <a:solidFill>
                  <a:srgbClr val="1F4E8C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520440"/>
            <a:ext cx="3246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0F2A4A"/>
                </a:solidFill>
                <a:latin typeface="Calibri"/>
              </a:rPr>
              <a:t>Transparent 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4069080"/>
            <a:ext cx="324612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0">
                <a:solidFill>
                  <a:srgbClr val="1A1F2C"/>
                </a:solidFill>
                <a:latin typeface="Calibri"/>
              </a:rPr>
              <a:t>Every change is reviewed, versioned and deployable. This report format can be repeated on a regular cadence so progress remains visible and measurable.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A4A"/>
                </a:solidFill>
                <a:latin typeface="Calibri"/>
              </a:rPr>
              <a:t>Thank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1A1F2C"/>
                </a:solidFill>
                <a:latin typeface="Calibri"/>
              </a:rPr>
              <a:t>We remain committed to maintaining and improving the platform — both the visible product and the engineering foundation it depends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1632</Words>
  <Application>Microsoft Office PowerPoint</Application>
  <PresentationFormat>Widescreen</PresentationFormat>
  <Paragraphs>329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Safdar Ali Niazi</dc:creator>
  <cp:keywords/>
  <dc:description>generated using python-pptx</dc:description>
  <cp:lastModifiedBy>Safdar Niazi</cp:lastModifiedBy>
  <cp:revision>2</cp:revision>
  <dcterms:created xsi:type="dcterms:W3CDTF">2013-01-27T09:14:16Z</dcterms:created>
  <dcterms:modified xsi:type="dcterms:W3CDTF">2026-05-19T16:38:47Z</dcterms:modified>
  <cp:category/>
</cp:coreProperties>
</file>